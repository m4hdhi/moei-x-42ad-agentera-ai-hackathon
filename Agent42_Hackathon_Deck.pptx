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1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02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A opens (30 seconds max):</a:t>
            </a:r>
          </a:p>
          <a:p>
            <a:r>
              <a:t>"Good morning. In the next five minutes, we're going to show you something that doesn't exist in any UAE government service today: a single AI agent that knows a citizen across every channel, never makes them repeat themselves, and acts before they even complain. This is Hassan."</a:t>
            </a:r>
          </a:p>
          <a:p>
            <a:endParaRPr/>
          </a:p>
          <a:p>
            <a:r>
              <a:t>[Pause one second. Let the name land. Move to slide 2.]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A (storytelling — slow and vivid):</a:t>
            </a:r>
          </a:p>
          <a:p>
            <a:r>
              <a:t>"Fatima Al Mansouri. She lives in Ajman. Four months behind on her Sheikh Zayed Housing Programme payments after a medical emergency."</a:t>
            </a:r>
          </a:p>
          <a:p>
            <a:endParaRPr/>
          </a:p>
          <a:p>
            <a:r>
              <a:t>[Point left]</a:t>
            </a:r>
          </a:p>
          <a:p>
            <a:r>
              <a:t>"Today: five days, four channels, one hour waiting, re-explaining herself every single time. No resolution."</a:t>
            </a:r>
          </a:p>
          <a:p>
            <a:endParaRPr/>
          </a:p>
          <a:p>
            <a:r>
              <a:t>[Sweep right]</a:t>
            </a:r>
          </a:p>
          <a:p>
            <a:r>
              <a:t>"With Hassan: she sends one WhatsApp. Ninety seconds later the system knows who she is, runs the housing rules engine, proposes a rescheduling plan, creates a case, and sends her a proactive update before she even has to ask again."</a:t>
            </a:r>
          </a:p>
          <a:p>
            <a:endParaRPr/>
          </a:p>
          <a:p>
            <a:r>
              <a:t>"One conversation. Every channel. She never repeats herself once."</a:t>
            </a:r>
          </a:p>
          <a:p>
            <a:endParaRPr/>
          </a:p>
          <a:p>
            <a:r>
              <a:t>[Move to slide 3 — fast.]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A (confident, fast):</a:t>
            </a:r>
          </a:p>
          <a:p>
            <a:r>
              <a:t>"This isn't just Fatima's problem. MOEI manages 174 federal services across four channels — and right now, none of them share context. Citizens re-explain themselves every single time. Agents work blind."</a:t>
            </a:r>
          </a:p>
          <a:p>
            <a:endParaRPr/>
          </a:p>
          <a:p>
            <a:r>
              <a:t>"The UAE National AI Strategy 2031 calls for exactly this kind of transformation — and nobody in this room has solved the cross-channel handoff."</a:t>
            </a:r>
          </a:p>
          <a:p>
            <a:endParaRPr/>
          </a:p>
          <a:p>
            <a:r>
              <a:t>[Beat.]</a:t>
            </a:r>
          </a:p>
          <a:p>
            <a:endParaRPr/>
          </a:p>
          <a:p>
            <a:r>
              <a:t>"We have. And we're going to prove it right now."</a:t>
            </a:r>
          </a:p>
          <a:p>
            <a:endParaRPr/>
          </a:p>
          <a:p>
            <a:r>
              <a:t>[Slide 4 — architecture, 20 seconds.]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A (20 seconds — fast architecture overview):</a:t>
            </a:r>
          </a:p>
          <a:p>
            <a:r>
              <a:t>"One LangGraph supervisor. Every channel feeds into it. It routes to specialist agents — housing, energy, transport, maritime. Cross-channel memory in Redis and Postgres. The citizen's profile is unified."</a:t>
            </a:r>
          </a:p>
          <a:p>
            <a:endParaRPr/>
          </a:p>
          <a:p>
            <a:r>
              <a:t>"Now let's see it live."</a:t>
            </a:r>
          </a:p>
          <a:p>
            <a:endParaRPr/>
          </a:p>
          <a:p>
            <a:r>
              <a:t>[Hand off to PRESENTER B on the laptop. Move to slide 5 and leave it on screen.]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[LEAVE THIS SLIDE ON SCREEN DURING THE ENTIRE DEMO — ~2.5 minutes]</a:t>
            </a:r>
          </a:p>
          <a:p>
            <a:endParaRPr/>
          </a:p>
          <a:p>
            <a:r>
              <a:t>PRESENTER B runs the demo. PRESENTER A narrates each step out loud:</a:t>
            </a:r>
          </a:p>
          <a:p>
            <a:endParaRPr/>
          </a:p>
          <a:p>
            <a:r>
              <a:t>STEP 1 — Web Chat (localhost:3000/chat or ngrok URL)</a:t>
            </a:r>
          </a:p>
          <a:p>
            <a:r>
              <a:t>  - Sign in as Fatima Al Mansouri (UAE PASS mock, ID: 784199011810004)</a:t>
            </a:r>
          </a:p>
          <a:p>
            <a:r>
              <a:t>  - Type: "I'm behind on my Sheikh Zayed housing payments after a medical emergency — what are my options?"</a:t>
            </a:r>
          </a:p>
          <a:p>
            <a:r>
              <a:t>  NARRATE: "The SZHP rules engine runs in real time — deterministic policy, not an LLM guess. A case is created."</a:t>
            </a:r>
          </a:p>
          <a:p>
            <a:endParaRPr/>
          </a:p>
          <a:p>
            <a:r>
              <a:t>STEP 2 — WhatsApp</a:t>
            </a:r>
          </a:p>
          <a:p>
            <a:r>
              <a:t>  - Send the same citizen's WhatsApp message: "What's the status of my request?"</a:t>
            </a:r>
          </a:p>
          <a:p>
            <a:r>
              <a:t>  NARRATE: "Different channel. Hassan already knows her — no re-introduction. It pulls her unified profile by Customer ID and returns the real case status with SLA timing."</a:t>
            </a:r>
          </a:p>
          <a:p>
            <a:endParaRPr/>
          </a:p>
          <a:p>
            <a:r>
              <a:t>STEP 3 — Admin &gt; Citizens &gt; Fatima &gt; Send Status Update</a:t>
            </a:r>
          </a:p>
          <a:p>
            <a:r>
              <a:t>  NARRATE: "Her case is SLA-breached. We send a proactive update before she has to chase. That is the difference."</a:t>
            </a:r>
          </a:p>
          <a:p>
            <a:endParaRPr/>
          </a:p>
          <a:p>
            <a:r>
              <a:t>STEP 4 — Admin &gt; Agent Co-pilot</a:t>
            </a:r>
          </a:p>
          <a:p>
            <a:r>
              <a:t>  NARRATE: "She's flagged as a Repeat Escalator. Two dataset signals fired — reopened case plus repeat history. Hassan routes her to a human automatically. The agent sees her entire cross-channel history on one screen. Acts in one click."</a:t>
            </a:r>
          </a:p>
          <a:p>
            <a:endParaRPr/>
          </a:p>
          <a:p>
            <a:r>
              <a:t>PRESENTER C (quietly, while demo runs):</a:t>
            </a:r>
          </a:p>
          <a:p>
            <a:r>
              <a:t>"Note: voice and mobile run through the exact same supervisor. Same memory, same profile."</a:t>
            </a:r>
          </a:p>
          <a:p>
            <a:endParaRPr/>
          </a:p>
          <a:p>
            <a:r>
              <a:t>TARGET: finish demo by 3:30. DO NOT RUSH STEP 2 — that's the money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[BACKUP SLIDE — show during Q&amp;A if asked "how does the agent actually work?"]</a:t>
            </a:r>
          </a:p>
          <a:p>
            <a:endParaRPr/>
          </a:p>
          <a:p>
            <a:r>
              <a:t>Key points:</a:t>
            </a:r>
          </a:p>
          <a:p>
            <a:r>
              <a:t>- Router uses fast 8B model; Reasoner uses Llama 3.3 70B — role-based routing, not hardcoded models</a:t>
            </a:r>
          </a:p>
          <a:p>
            <a:r>
              <a:t>- Escalation node is dataset-driven, not LLM confidence — it fires on measurable CRM signals</a:t>
            </a:r>
          </a:p>
          <a:p>
            <a:r>
              <a:t>- Rules engine means every housing decision is explainable, not a black box</a:t>
            </a:r>
          </a:p>
          <a:p>
            <a:r>
              <a:t>- Langfuse captures every node — full audit trail for PDPL Art. 7 right-to-explanation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[BACKUP SLIDE — use for Q&amp;A on compliance / data privacy / production readiness]</a:t>
            </a:r>
          </a:p>
          <a:p>
            <a:endParaRPr/>
          </a:p>
          <a:p>
            <a:r>
              <a:t>Key Q&amp;A answers:</a:t>
            </a:r>
          </a:p>
          <a:p>
            <a:r>
              <a:t>Q: "What about data privacy?" -&gt; PDPL article-by-article mapping, PII redacted at two independent layers, full audit trail</a:t>
            </a:r>
          </a:p>
          <a:p>
            <a:r>
              <a:t>Q: "Where does the data live?" -&gt; Azure UAE North or Core42, containerised, on-prem option available</a:t>
            </a:r>
          </a:p>
          <a:p>
            <a:r>
              <a:t>Q: "What if an LLM provider goes down?" -&gt; Automatic cascade: Groq -&gt; Claude/OpenAI -&gt; Gemini. Never hard-fails the citizen.</a:t>
            </a:r>
          </a:p>
          <a:p>
            <a:r>
              <a:t>Q: "Is this production-ready or just a demo?" -&gt; 90-day pilot plan with named MOEI sponsors, data residency plan, PDPL DPIA process defined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[BACKUP — use if asked about Arabic support or localisation]</a:t>
            </a:r>
          </a:p>
          <a:p>
            <a:endParaRPr/>
          </a:p>
          <a:p>
            <a:r>
              <a:t>Key point: Jais is not Google Translate bolted onto an English model. It's a model specifically trained on Gulf Arabic.</a:t>
            </a:r>
          </a:p>
          <a:p>
            <a:r>
              <a:t>The UI renders RTL as a first-class mode, not via CSS tricks.</a:t>
            </a:r>
          </a:p>
          <a:p>
            <a:r>
              <a:t>Code-switching (mixing Arabic and English in one sentence) is handled at the router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[BACKUP — use for Q&amp;A on technology choices / vendor strategy]</a:t>
            </a:r>
          </a:p>
          <a:p>
            <a:endParaRPr/>
          </a:p>
          <a:p>
            <a:r>
              <a:t>Q: "Why not just use Azure OpenAI?"</a:t>
            </a:r>
          </a:p>
          <a:p>
            <a:r>
              <a:t>A: "We can. The cascade includes OpenAI. But we're not locked to it. If MOEI requires on-prem, we swap one line of config and redeploy on Core42. The government is the customer — they set the residency rules, not us."</a:t>
            </a:r>
          </a:p>
          <a:p>
            <a:endParaRPr/>
          </a:p>
          <a:p>
            <a:r>
              <a:t>Q: "What if Groq shuts down or raises prices?"</a:t>
            </a:r>
          </a:p>
          <a:p>
            <a:r>
              <a:t>A: "Automatic failover to the next provider in the cascade. Citizens never see it."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A (post-demo, punchy):</a:t>
            </a:r>
          </a:p>
          <a:p>
            <a:r>
              <a:t>"What you just saw translates to real numbers. Sixty percent deflection. Housing triage from five minutes to ninety seconds. First reply under five seconds. At under one dirham per conversation."</a:t>
            </a:r>
          </a:p>
          <a:p>
            <a:endParaRPr/>
          </a:p>
          <a:p>
            <a:r>
              <a:t>"One hundred and seventy-four federal services. Millions of citizens. This is not a chatbot — this is a national infrastructure upgrade."</a:t>
            </a:r>
          </a:p>
          <a:p>
            <a:endParaRPr/>
          </a:p>
          <a:p>
            <a:r>
              <a:t>"Directly aligned with the UAE's AI Strategy 2031 and the AED 335 billion digital economy target."</a:t>
            </a:r>
          </a:p>
          <a:p>
            <a:endParaRPr/>
          </a:p>
          <a:p>
            <a:r>
              <a:t>[Move to slide 11.]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A (fast but specific):</a:t>
            </a:r>
          </a:p>
          <a:p>
            <a:r>
              <a:t>"Ninety days. Three phases. Three named partners who are already the right people at MOEI."</a:t>
            </a:r>
          </a:p>
          <a:p>
            <a:endParaRPr/>
          </a:p>
          <a:p>
            <a:r>
              <a:t>Phase 1: "Real UAE PASS, real data residency on Core42, real WhatsApp under MOEI's account. PDPL DPIA signed."</a:t>
            </a:r>
          </a:p>
          <a:p>
            <a:r>
              <a:t>Phase 2: "Shadow mode — Hassan runs next to every real human agent. We measure accuracy. Target: 80% agreement."</a:t>
            </a:r>
          </a:p>
          <a:p>
            <a:r>
              <a:t>Phase 3: "Sixty percent deflection on housing arrears. Two more services live. Citizen audit trail in production."</a:t>
            </a:r>
          </a:p>
          <a:p>
            <a:endParaRPr/>
          </a:p>
          <a:p>
            <a:r>
              <a:t>"Named sponsors: MOEI Customer Happiness Centre owns the CSAT. Sheikh Zayed Housing Programme provides the caseload. TDRA provides UAE PASS access."</a:t>
            </a:r>
          </a:p>
          <a:p>
            <a:endParaRPr/>
          </a:p>
          <a:p>
            <a:r>
              <a:t>[Close — slide 12.]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PRESENTER A (closes slow and clear — do not rush this):</a:t>
            </a:r>
          </a:p>
          <a:p>
            <a:endParaRPr dirty="0"/>
          </a:p>
          <a:p>
            <a:r>
              <a:rPr dirty="0"/>
              <a:t>"We didn't build a chatbot."</a:t>
            </a:r>
          </a:p>
          <a:p>
            <a:endParaRPr dirty="0"/>
          </a:p>
          <a:p>
            <a:r>
              <a:rPr dirty="0"/>
              <a:t>[Pause two full seconds.]</a:t>
            </a:r>
          </a:p>
          <a:p>
            <a:endParaRPr dirty="0"/>
          </a:p>
          <a:p>
            <a:r>
              <a:rPr dirty="0"/>
              <a:t>"We built MOEI's unified digital brain. It knows the citizen. It empowers the employee. And it gives leadership real-time, explainable decision support."</a:t>
            </a:r>
          </a:p>
          <a:p>
            <a:endParaRPr dirty="0"/>
          </a:p>
          <a:p>
            <a:r>
              <a:rPr dirty="0"/>
              <a:t>[Look up from the screen. Look at the judges.]</a:t>
            </a:r>
          </a:p>
          <a:p>
            <a:endParaRPr dirty="0"/>
          </a:p>
          <a:p>
            <a:r>
              <a:rPr dirty="0"/>
              <a:t>"Hassan."</a:t>
            </a:r>
          </a:p>
          <a:p>
            <a:endParaRPr dirty="0"/>
          </a:p>
          <a:p>
            <a:r>
              <a:rPr dirty="0"/>
              <a:t>[Sit down. Let the silence hold for two seconds before Q&amp;A starts. Do not fill it.]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6784848"/>
            <a:ext cx="11914632" cy="73152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i="0" dirty="0">
                <a:solidFill>
                  <a:srgbClr val="FFFFFF"/>
                </a:solidFill>
                <a:latin typeface="Calibri"/>
              </a:rPr>
              <a:t>Agent42</a:t>
            </a:r>
            <a:endParaRPr sz="8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B0C4DE"/>
                </a:solidFill>
                <a:latin typeface="Calibri"/>
              </a:rPr>
              <a:t>Hyper-Adaptive Smart Service Agent for the 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474720"/>
            <a:ext cx="5788152" cy="4572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C4DE"/>
                </a:solidFill>
                <a:latin typeface="Calibri"/>
              </a:rPr>
              <a:t>MOEI  x  42 Abu Dhabi  |  AgentEra Hackathon  |  Challenge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9639"/>
                </a:solidFill>
                <a:latin typeface="Calibri"/>
              </a:rPr>
              <a:t>Team </a:t>
            </a:r>
            <a:r>
              <a:rPr lang="en-US" sz="2200" b="1" i="0" dirty="0">
                <a:solidFill>
                  <a:srgbClr val="009639"/>
                </a:solidFill>
                <a:latin typeface="Calibri"/>
              </a:rPr>
              <a:t>Agent42</a:t>
            </a:r>
            <a:endParaRPr sz="2200" b="1" i="0" dirty="0">
              <a:solidFill>
                <a:srgbClr val="00963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090B0"/>
                </a:solidFill>
                <a:latin typeface="Calibri"/>
              </a:rPr>
              <a:t>خدمة حكومة الإمارات بذكاء يستحقه المواطن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86868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Meet Fatima Al Mansouri  —  Ajman  —  SZHP Housing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394960" cy="557784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3340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5060"/>
                </a:solidFill>
                <a:latin typeface="Calibri"/>
              </a:rPr>
              <a:t>4 months behind on SZHP payments after a medical emergency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4144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5060"/>
                </a:solidFill>
                <a:latin typeface="Calibri"/>
              </a:rPr>
              <a:t>Calls MOEI hotline — 40-minute wait, transferred twice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0156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5060"/>
                </a:solidFill>
                <a:latin typeface="Calibri"/>
              </a:rPr>
              <a:t>Re-explains herself from scratch on every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6168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5060"/>
                </a:solidFill>
                <a:latin typeface="Calibri"/>
              </a:rPr>
              <a:t>Tries WhatsApp — no memory of the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2180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3340"/>
                </a:solidFill>
                <a:latin typeface="Calibri"/>
              </a:rPr>
              <a:t>5 DAYS  |  4 CHANNELS  |  1 HOUR WAIT  |  No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200400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C1B2A"/>
                </a:solidFill>
                <a:latin typeface="Calibr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960120"/>
            <a:ext cx="5394960" cy="5577840"/>
          </a:xfrm>
          <a:prstGeom prst="rect">
            <a:avLst/>
          </a:prstGeom>
          <a:solidFill>
            <a:srgbClr val="E8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024128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9639"/>
                </a:solidFill>
                <a:latin typeface="Calibri"/>
              </a:rPr>
              <a:t>WITH </a:t>
            </a:r>
            <a:r>
              <a:rPr lang="en-US" sz="1300" b="1" i="0" dirty="0">
                <a:solidFill>
                  <a:srgbClr val="009639"/>
                </a:solidFill>
                <a:latin typeface="Calibri"/>
              </a:rPr>
              <a:t>Agent42</a:t>
            </a:r>
            <a:endParaRPr sz="1300" b="1" i="0" dirty="0">
              <a:solidFill>
                <a:srgbClr val="009639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0" y="148132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5060"/>
                </a:solidFill>
                <a:latin typeface="Calibri"/>
              </a:rPr>
              <a:t>Sends one WhatsApp — Hassan already knows 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44144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5060"/>
                </a:solidFill>
                <a:latin typeface="Calibri"/>
              </a:rPr>
              <a:t>SZHP rules engine: rescheduling plan in 8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40156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5060"/>
                </a:solidFill>
                <a:latin typeface="Calibri"/>
              </a:rPr>
              <a:t>Case created automatically. SLA clock starts.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36168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5060"/>
                </a:solidFill>
                <a:latin typeface="Calibri"/>
              </a:rPr>
              <a:t>Proactive status update sent before she has to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532180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639"/>
                </a:solidFill>
                <a:latin typeface="Calibri"/>
              </a:rPr>
              <a:t>90 SECONDS  |  1 CONVERSATION  |  Never repeats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 Is Bigger Than Fatima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4572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3383280" cy="23774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F3340"/>
                </a:solidFill>
                <a:latin typeface="Calibri"/>
              </a:rPr>
              <a:t>174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federal services</a:t>
            </a:r>
          </a:p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at MOEI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97280"/>
            <a:ext cx="3383280" cy="23774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17043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F3340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871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channels per service</a:t>
            </a:r>
          </a:p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web  ·  voice  ·  WhatsApp  ·  mobile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097280"/>
            <a:ext cx="3383280" cy="23774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17043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F3340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871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shared citizen context</a:t>
            </a:r>
          </a:p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between any of them —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11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C4DE"/>
                </a:solidFill>
                <a:latin typeface="Calibri"/>
              </a:rPr>
              <a:t>Siloed CRMs  ·  Manual handoffs  ·  No cross-channel memory  ·  Reactive, not proactive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60"/>
            <a:ext cx="11457432" cy="4572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389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9639"/>
                </a:solidFill>
                <a:latin typeface="Calibri"/>
              </a:rPr>
              <a:t>UAE National AI Strategy 2031  ·  AED 335 billion digital economy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074920"/>
            <a:ext cx="10360152" cy="1143000"/>
          </a:xfrm>
          <a:prstGeom prst="rect">
            <a:avLst/>
          </a:prstGeom>
          <a:solidFill>
            <a:srgbClr val="18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No team here is solving the cross-channel handoff.  We 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8229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One Brain. Every Channel.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2286000" cy="6858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8755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914400"/>
            <a:ext cx="2286000" cy="6858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98755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914400"/>
            <a:ext cx="2286000" cy="6858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98755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Web / 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914400"/>
            <a:ext cx="2286000" cy="6858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98755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C1B2A"/>
                </a:solidFill>
                <a:latin typeface="Calibri"/>
              </a:rPr>
              <a:t>v v v 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084831"/>
            <a:ext cx="10177272" cy="7132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9966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FastAPI Channel Gateway  |  correlation-ID  |  language detection  |  PII redaction at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C1B2A"/>
                </a:solidFill>
                <a:latin typeface="Calibri"/>
              </a:rPr>
              <a:t>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310128"/>
            <a:ext cx="10177272" cy="749808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401568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LangGraph Supervisor  |  Router &gt; Sentiment &gt; Memory &gt; Guardrails &gt; Dispatcher &gt; Escalation &gt; Composer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0873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C1B2A"/>
                </a:solidFill>
                <a:latin typeface="Calibri"/>
              </a:rP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53712"/>
            <a:ext cx="2011680" cy="960120"/>
          </a:xfrm>
          <a:prstGeom prst="rect">
            <a:avLst/>
          </a:prstGeom>
          <a:solidFill>
            <a:srgbClr val="007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626864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Housing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(SZHP)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553712"/>
            <a:ext cx="2011680" cy="960120"/>
          </a:xfrm>
          <a:prstGeom prst="rect">
            <a:avLst/>
          </a:prstGeom>
          <a:solidFill>
            <a:srgbClr val="007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88920" y="4626864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Energy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(Tariffs)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553712"/>
            <a:ext cx="2011680" cy="960120"/>
          </a:xfrm>
          <a:prstGeom prst="rect">
            <a:avLst/>
          </a:prstGeom>
          <a:solidFill>
            <a:srgbClr val="007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4626864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Transport &amp;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Maritime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553712"/>
            <a:ext cx="2011680" cy="960120"/>
          </a:xfrm>
          <a:prstGeom prst="rect">
            <a:avLst/>
          </a:prstGeom>
          <a:solidFill>
            <a:srgbClr val="007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60920" y="4626864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Knowledge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(FTS / RAG)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4553712"/>
            <a:ext cx="2011680" cy="960120"/>
          </a:xfrm>
          <a:prstGeom prst="rect">
            <a:avLst/>
          </a:prstGeom>
          <a:solidFill>
            <a:srgbClr val="007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46920" y="4626864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CRM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(Profile)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65099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A0"/>
                </a:solidFill>
                <a:latin typeface="Calibri"/>
              </a:rPr>
              <a:t>PostgreSQL (system of record)  |  Redis (cross-channel session)  |  Langfuse (tracing + audit)  |  Postgres FTS (bilingual 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6784848"/>
            <a:ext cx="11914632" cy="73152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Calibri"/>
              </a:rPr>
              <a:t>Fatima's journey  —  four channels  —  one memory  —  in real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069080"/>
            <a:ext cx="8531352" cy="54864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9639"/>
                </a:solidFill>
                <a:latin typeface="Calibri"/>
              </a:rPr>
              <a:t>Web Chat   &gt;   WhatsApp   &gt;   Proactive Update   &gt;   Human Escalation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8229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Agentic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EF3340"/>
                </a:solidFill>
                <a:latin typeface="Calibri"/>
              </a:rPr>
              <a:t>25 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234440" cy="5943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98755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0241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C1B2A"/>
                </a:solidFill>
                <a:latin typeface="Calibri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914400"/>
            <a:ext cx="1234440" cy="5943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55648" y="98755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Sentiment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0241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C1B2A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914400"/>
            <a:ext cx="1234440" cy="5943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8688" y="98755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0241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C1B2A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914400"/>
            <a:ext cx="1234440" cy="594360"/>
          </a:xfrm>
          <a:prstGeom prst="rect">
            <a:avLst/>
          </a:prstGeom>
          <a:solidFill>
            <a:srgbClr val="70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98755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0241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C1B2A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914400"/>
            <a:ext cx="1234440" cy="59436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Dispatcher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0241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C1B2A"/>
                </a:solidFill>
                <a:latin typeface="Calibri"/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914400"/>
            <a:ext cx="1234440" cy="59436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07808" y="98755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0241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C1B2A"/>
                </a:solidFill>
                <a:latin typeface="Calibri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914400"/>
            <a:ext cx="1234440" cy="5943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70848" y="98755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Composer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10241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C1B2A"/>
                </a:solidFill>
                <a:latin typeface="Calibri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914400"/>
            <a:ext cx="1234440" cy="594360"/>
          </a:xfrm>
          <a:prstGeom prst="rect">
            <a:avLst/>
          </a:prstGeom>
          <a:solidFill>
            <a:srgbClr val="007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33888" y="98755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Persist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719072"/>
            <a:ext cx="11640312" cy="107899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1719072"/>
            <a:ext cx="73152" cy="1078992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18105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1B2A"/>
                </a:solidFill>
                <a:latin typeface="Calibri"/>
              </a:rPr>
              <a:t>Multi-agent specialist dispatch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224027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Housing · Energy · Transport · Maritime · Infrastructure — each with dedicated tools and deterministic sub-logic.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880360"/>
            <a:ext cx="11640312" cy="107899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2880360"/>
            <a:ext cx="73152" cy="1078992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2971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1B2A"/>
                </a:solidFill>
                <a:latin typeface="Calibri"/>
              </a:rPr>
              <a:t>Predictive escalation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4015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6 CRM signals fused (anger · SLA breach · reopened · repeat escalator · critical · VIP). Escalates on &gt;= 2. Predicts before citizen complains.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041648"/>
            <a:ext cx="11640312" cy="107899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3152" cy="1078992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13308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1B2A"/>
                </a:solidFill>
                <a:latin typeface="Calibri"/>
              </a:rPr>
              <a:t>Deterministic policy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5628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SZHP rules in Python, not LLM. Every decision is citable: 'SZHP-R3.1: arrears &gt;= 3 months, eligible for hardship rescheduling.' Right-to-explanation built in.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202936"/>
            <a:ext cx="11640312" cy="107899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74320" y="5202936"/>
            <a:ext cx="73152" cy="1078992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5294375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1B2A"/>
                </a:solidFill>
                <a:latin typeface="Calibri"/>
              </a:rPr>
              <a:t>Full PDPL audit 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7241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Every node input/output captured to Langfuse. Every decision persisted to Postgres. Citizen-accessible. Replayable for any auditor.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82296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Federal-Grade. Built for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009639"/>
                </a:solidFill>
                <a:latin typeface="Calibri"/>
              </a:rPr>
              <a:t>25 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66928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669280" cy="9144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247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39"/>
                </a:solidFill>
                <a:latin typeface="Calibri"/>
              </a:rPr>
              <a:t>PDPL Compliant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Art. 4 Consent  |  Art. 5 Purpose limitation  |  Art. 6 UAE residency  |  Art. 7 Access  |  Art. 8 Security  |  Art. 9 Breach SOP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80"/>
            <a:ext cx="566928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5669280" cy="9144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62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39"/>
                </a:solidFill>
                <a:latin typeface="Calibri"/>
              </a:rPr>
              <a:t>UAE PASS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Synthetic identities in demo; real UAE PASS sandbox in Phase 1 pilot. Verified citizen flow — no guessing who Fatima 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566928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434840"/>
            <a:ext cx="5669280" cy="9144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9943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39"/>
                </a:solidFill>
                <a:latin typeface="Calibri"/>
              </a:rPr>
              <a:t>Data Residency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Azure UAE North / Core42 (G42 Cloud). Fully containerised — on-prem deployable if TDRA requires. Data never leaves UAE.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960120"/>
            <a:ext cx="566928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960120"/>
            <a:ext cx="5669280" cy="914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1247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39"/>
                </a:solidFill>
                <a:latin typeface="Calibri"/>
              </a:rPr>
              <a:t>PII + Bias Guards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Emirates ID / IBAN / mobile / email redacted at gateway AND composer. Nationality / gender / religion bias detector built 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697480"/>
            <a:ext cx="566928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2697480"/>
            <a:ext cx="5669280" cy="914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862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39"/>
                </a:solidFill>
                <a:latin typeface="Calibri"/>
              </a:rPr>
              <a:t>Audit Trail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91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Every decision clickable by the citizen or any auditor. PDPL Art. 7 right-to-explanation: exact rule citations, not LLM post-hoc rationalisation.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434840"/>
            <a:ext cx="566928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434840"/>
            <a:ext cx="5669280" cy="914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59943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39"/>
                </a:solidFill>
                <a:latin typeface="Calibri"/>
              </a:rPr>
              <a:t>Provider Failover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0292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Groq &gt; Claude/OpenAI &gt; Gemini. Automatic cascade. No single-vendor lock-in. Zero hard-fails for the citizen.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8229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Arabic-First. Not an Afterthought.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669280" cy="2103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09728" cy="210312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1B2A"/>
                </a:solidFill>
                <a:latin typeface="Calibri"/>
              </a:rPr>
              <a:t>Jais-Family-30B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5060"/>
                </a:solidFill>
                <a:latin typeface="Calibri"/>
              </a:rPr>
              <a:t>Khaliji Arabic dialect — purpose-built for Gulf Arabic, not translated from English.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669280" cy="2103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005840"/>
            <a:ext cx="109728" cy="210312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2070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1B2A"/>
                </a:solidFill>
                <a:latin typeface="Calibri"/>
              </a:rPr>
              <a:t>Native RTL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5060"/>
                </a:solidFill>
                <a:latin typeface="Calibri"/>
              </a:rPr>
              <a:t>Right-to-left is first-class: web, chat, and mobile all render RTL natively. Not a CSS patch.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83280"/>
            <a:ext cx="5669280" cy="2103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109728" cy="210312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844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1B2A"/>
                </a:solidFill>
                <a:latin typeface="Calibri"/>
              </a:rPr>
              <a:t>Code-switching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5060"/>
                </a:solidFill>
                <a:latin typeface="Calibri"/>
              </a:rPr>
              <a:t>Arabic + English in the same turn handled cleanly — because citizens actually talk that way.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383280"/>
            <a:ext cx="5669280" cy="2103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383280"/>
            <a:ext cx="109728" cy="210312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5844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1B2A"/>
                </a:solidFill>
                <a:latin typeface="Calibri"/>
              </a:rPr>
              <a:t>Bilingual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5060"/>
                </a:solidFill>
                <a:latin typeface="Calibri"/>
              </a:rPr>
              <a:t>Postgres FTS knowledge base indexed in both languages. Ask in Arabic, get Arabic-cited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715000"/>
            <a:ext cx="11640312" cy="77724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788152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09639"/>
                </a:solidFill>
                <a:latin typeface="Calibri"/>
              </a:rPr>
              <a:t>"</a:t>
            </a:r>
            <a:r>
              <a:rPr lang="ar-AE" sz="2000" b="1" i="0" dirty="0">
                <a:solidFill>
                  <a:srgbClr val="009639"/>
                </a:solidFill>
                <a:latin typeface="Calibri"/>
              </a:rPr>
              <a:t>وكيل42</a:t>
            </a:r>
            <a:r>
              <a:rPr sz="2000" b="1" i="0" dirty="0">
                <a:solidFill>
                  <a:srgbClr val="009639"/>
                </a:solidFill>
                <a:latin typeface="Calibri"/>
              </a:rPr>
              <a:t>. </a:t>
            </a:r>
            <a:r>
              <a:rPr sz="2000" b="1" i="0" dirty="0" err="1">
                <a:solidFill>
                  <a:srgbClr val="009639"/>
                </a:solidFill>
                <a:latin typeface="Calibri"/>
              </a:rPr>
              <a:t>خدمة</a:t>
            </a:r>
            <a:r>
              <a:rPr sz="2000" b="1" i="0" dirty="0">
                <a:solidFill>
                  <a:srgbClr val="009639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009639"/>
                </a:solidFill>
                <a:latin typeface="Calibri"/>
              </a:rPr>
              <a:t>حكومة</a:t>
            </a:r>
            <a:r>
              <a:rPr sz="2000" b="1" i="0" dirty="0">
                <a:solidFill>
                  <a:srgbClr val="009639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009639"/>
                </a:solidFill>
                <a:latin typeface="Calibri"/>
              </a:rPr>
              <a:t>الإمارات</a:t>
            </a:r>
            <a:r>
              <a:rPr sz="2000" b="1" i="0" dirty="0">
                <a:solidFill>
                  <a:srgbClr val="009639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009639"/>
                </a:solidFill>
                <a:latin typeface="Calibri"/>
              </a:rPr>
              <a:t>بذكاء</a:t>
            </a:r>
            <a:r>
              <a:rPr sz="2000" b="1" i="0" dirty="0">
                <a:solidFill>
                  <a:srgbClr val="009639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009639"/>
                </a:solidFill>
                <a:latin typeface="Calibri"/>
              </a:rPr>
              <a:t>يستحقه</a:t>
            </a:r>
            <a:r>
              <a:rPr sz="2000" b="1" i="0" dirty="0">
                <a:solidFill>
                  <a:srgbClr val="009639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009639"/>
                </a:solidFill>
                <a:latin typeface="Calibri"/>
              </a:rPr>
              <a:t>المواطن</a:t>
            </a:r>
            <a:r>
              <a:rPr sz="2000" b="1" i="0" dirty="0">
                <a:solidFill>
                  <a:srgbClr val="009639"/>
                </a:solidFill>
                <a:latin typeface="Calibri"/>
              </a:rPr>
              <a:t>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No Lock-In. No Single Point of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57432" cy="54864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73152" cy="86868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LangGraph + Langfuse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Apache-2.0 / MIT. No proprietary orchestration. No vendor owns the graph.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76272"/>
            <a:ext cx="73152" cy="86868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0370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Provider-agnostic LLM cascade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Groq  |  Cerebras  |  Claude (Anthropic)  |  OpenAI  |  Jais  |  Gemini — swap any provider in one config line. Graph logic unchanged.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9544"/>
            <a:ext cx="73152" cy="86868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236975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$0 RAG on Postgres FTS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667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Bilingual full-text search today. pgvector when scale demands. No vector-DB vendor required at pilot volume.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42816"/>
            <a:ext cx="73152" cy="86868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702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Graceful degradation everywhere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0001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LLM down -&gt; fallback model. Model missing -&gt; heuristic. Guardrail error -&gt; safe default. The citizen never sees a hard fail.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76088"/>
            <a:ext cx="73152" cy="86868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303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Containerised for UAE sovereignty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332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Deploy on Azure UAE North, Core42, or any on-prem cluster. Data residency is a deployment decision, not a rewrite.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8229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This Means for Citizens  —  and for MOEI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514600" cy="2651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514600" cy="109728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F3340"/>
                </a:solidFill>
                <a:latin typeface="Calibri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C1B2A"/>
                </a:solidFill>
                <a:latin typeface="Calibri"/>
              </a:rPr>
              <a:t>self-service</a:t>
            </a:r>
          </a:p>
          <a:p>
            <a:pPr algn="ctr"/>
            <a:r>
              <a:rPr sz="1400" b="0" i="0">
                <a:solidFill>
                  <a:srgbClr val="0C1B2A"/>
                </a:solidFill>
                <a:latin typeface="Calibri"/>
              </a:rPr>
              <a:t>deflection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960120"/>
            <a:ext cx="2514600" cy="2651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960120"/>
            <a:ext cx="2514600" cy="109728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1430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9639"/>
                </a:solidFill>
                <a:latin typeface="Calibri"/>
              </a:rPr>
              <a:t>&lt; 90s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774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C1B2A"/>
                </a:solidFill>
                <a:latin typeface="Calibri"/>
              </a:rPr>
              <a:t>housing triage</a:t>
            </a:r>
          </a:p>
          <a:p>
            <a:pPr algn="ctr"/>
            <a:r>
              <a:rPr sz="1400" b="0" i="0">
                <a:solidFill>
                  <a:srgbClr val="0C1B2A"/>
                </a:solidFill>
                <a:latin typeface="Calibri"/>
              </a:rPr>
              <a:t>(was 5+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960120"/>
            <a:ext cx="2514600" cy="2651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514600" cy="109728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1430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F3340"/>
                </a:solidFill>
                <a:latin typeface="Calibri"/>
              </a:rPr>
              <a:t>&lt; 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C1B2A"/>
                </a:solidFill>
                <a:latin typeface="Calibri"/>
              </a:rPr>
              <a:t>first meaningful</a:t>
            </a:r>
          </a:p>
          <a:p>
            <a:pPr algn="ctr"/>
            <a:r>
              <a:rPr sz="1400" b="0" i="0">
                <a:solidFill>
                  <a:srgbClr val="0C1B2A"/>
                </a:solidFill>
                <a:latin typeface="Calibri"/>
              </a:rPr>
              <a:t>reply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960120"/>
            <a:ext cx="2514600" cy="2651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960120"/>
            <a:ext cx="2514600" cy="109728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1430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9639"/>
                </a:solidFill>
                <a:latin typeface="Calibri"/>
              </a:rPr>
              <a:t>4.5/5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3774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C1B2A"/>
                </a:solidFill>
                <a:latin typeface="Calibri"/>
              </a:rPr>
              <a:t>target CSAT</a:t>
            </a:r>
          </a:p>
          <a:p>
            <a:pPr algn="ctr"/>
            <a:r>
              <a:rPr sz="1400" b="0" i="0">
                <a:solidFill>
                  <a:srgbClr val="0C1B2A"/>
                </a:solidFill>
                <a:latin typeface="Calibri"/>
              </a:rPr>
              <a:t>by Phase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11457432" cy="5486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931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C1B2A"/>
                </a:solidFill>
                <a:latin typeface="Calibri"/>
              </a:rPr>
              <a:t>174 services  x  60% deflection  x  5-min baseline AHT  =  millions of citizen-hours returned annually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11457432" cy="8229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773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39"/>
                </a:solidFill>
                <a:latin typeface="Calibri"/>
              </a:rPr>
              <a:t>UAE National AI Strategy 2031  |  AED 335 billion digital economy contribution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6509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080A0"/>
                </a:solidFill>
                <a:latin typeface="Calibri"/>
              </a:rPr>
              <a:t>Cost to run: &lt; AED 1.00 per conversation  |  AED 25K/month infrastructure at pilot volume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82296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We Don't Need 3 Years.  We Need 90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11880" cy="53492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11880" cy="50292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9875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Days 1–30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1B2A"/>
                </a:solidFill>
                <a:latin typeface="Calibri"/>
              </a:rPr>
              <a:t>Production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1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UAE PASS sandbox — real verified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79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Azure UAE North / Core42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6732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Meta WhatsApp Cloud API under MOEI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08576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PDPL DPIA signed by MOEI Data Protection Officer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960120"/>
            <a:ext cx="3611880" cy="53492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960120"/>
            <a:ext cx="3611880" cy="5029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9875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Days 31–60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508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1B2A"/>
                </a:solidFill>
                <a:latin typeface="Calibri"/>
              </a:rPr>
              <a:t>Shadow Mode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084831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Hassan reads every real citizen turn — never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926079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Daily: Hassan recommendation vs. human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6732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Target: &gt;= 80% agreement on 5,000-turn evaluation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608576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Cost target: &lt; AED 1.00 per conversation confirmed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960120"/>
            <a:ext cx="3611880" cy="53492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74736" y="960120"/>
            <a:ext cx="3611880" cy="50292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7" y="9875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Days 61–90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1508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1B2A"/>
                </a:solidFill>
                <a:latin typeface="Calibri"/>
              </a:rPr>
              <a:t>Limited GA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084831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Live: housing arrears triage as default first-touch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2926079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EnergyAgent + TransportAgent workers go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376732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Citizen audit-trail UI in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4608576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5060"/>
                </a:solidFill>
                <a:latin typeface="Calibri"/>
              </a:rPr>
              <a:t>  60% deflection rate measured against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7336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88A0"/>
                </a:solidFill>
                <a:latin typeface="Calibri"/>
              </a:rPr>
              <a:t>Sponsors: MOEI Customer Happiness Centre  |  Sheikh Zayed Housing Programme  |  MOEI Digital Government / TDRA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6784848"/>
            <a:ext cx="11914632" cy="73152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AE" sz="8800" b="1" dirty="0">
                <a:solidFill>
                  <a:srgbClr val="FFFFFF"/>
                </a:solidFill>
                <a:latin typeface="Calibri"/>
              </a:rPr>
              <a:t>وكيل42</a:t>
            </a:r>
            <a:r>
              <a:rPr sz="8800" b="1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9639"/>
                </a:solidFill>
                <a:latin typeface="Calibri"/>
              </a:rPr>
              <a:t>خدمة حكومة الإمارات بذكاء يستحقه المواطن.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566160"/>
            <a:ext cx="7616952" cy="54864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  <a:latin typeface="Calibri"/>
              </a:rPr>
              <a:t>Agent42</a:t>
            </a:r>
            <a:r>
              <a:rPr sz="5200" b="1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Calibri"/>
              </a:rPr>
              <a:t>UAE government service with the intelligence its citizens deserve.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07090"/>
                </a:solidFill>
                <a:latin typeface="Calibri"/>
              </a:rPr>
              <a:t>Team Hassan  |  MOEI x 42 Abu Dhabi  |  AgentEra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2480</Words>
  <Application>Microsoft Office PowerPoint</Application>
  <PresentationFormat>Custom</PresentationFormat>
  <Paragraphs>269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Saeed</cp:lastModifiedBy>
  <cp:revision>2</cp:revision>
  <dcterms:created xsi:type="dcterms:W3CDTF">2013-01-27T09:14:16Z</dcterms:created>
  <dcterms:modified xsi:type="dcterms:W3CDTF">2026-06-10T15:07:41Z</dcterms:modified>
  <cp:category/>
</cp:coreProperties>
</file>