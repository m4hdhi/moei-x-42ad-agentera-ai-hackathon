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  <Relationship Id="rId8" Type="http://schemas.openxmlformats.org/officeDocument/2006/relationships/slideMaster" Target="slideMasters/slideMaster1.xml"/>
  <Relationship Id="rId9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smart-sustainable-building.svg"/><Relationship Id="rId3" Type="http://schemas.openxmlformats.org/officeDocument/2006/relationships/image" Target="../media/ev-clean-energy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housing-handover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ev-clean-energy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D8343A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219456" y="6729984"/>
            <a:ext cx="11969496" cy="128016"/>
          </a:xfrm>
          <a:prstGeom prst="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4360" y="658368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54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Agent42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58368" y="169164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dirty="0" b="1">
                <a:solidFill>
                  <a:srgbClr val="C6A664"/>
                </a:solidFill>
                <a:latin typeface="Aptos"/>
                <a:ea typeface="Aptos"/>
                <a:cs typeface="Arial"/>
              </a:rPr>
              <a:t>One AI agent for every MOEI customer channel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2331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dirty="0">
                <a:solidFill>
                  <a:srgbClr val="C7D6DD"/>
                </a:solidFill>
                <a:latin typeface="Aptos"/>
                <a:ea typeface="Aptos"/>
                <a:cs typeface="Arial"/>
              </a:rPr>
              <a:t>WhatsApp • Voice • Web • Mobile • Sign Language • Task Automation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85800" y="51663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Team Agent42</a:t>
            </a:r>
          </a:p>
          <a:p>
            <a:pPr algn="l"/>
            <a:r>
              <a:rPr lang="en-US" sz="18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Ali Saeed • Mahdhi Muzammil • Hasan Saleh</a:t>
            </a:r>
          </a:p>
        </p:txBody>
      </p:sp>
      <p:pic>
        <p:nvPicPr>
          <p:cNvPr id="17" name="Sustainable servic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7543800" y="713232"/>
            <a:ext cx="4160520" cy="2377440"/>
          </a:xfrm>
          <a:prstGeom prst="rect">
            <a:avLst/>
          </a:prstGeom>
        </p:spPr>
      </p:pic>
      <p:pic>
        <p:nvPicPr>
          <p:cNvPr id="18" name="EV clean energy image"/>
          <p:cNvPicPr/>
          <p:nvPr/>
        </p:nvPicPr>
        <p:blipFill>
          <a:blip r:embed="rId3"/>
          <a:stretch>
            <a:fillRect/>
          </a:stretch>
        </p:blipFill>
        <p:spPr>
          <a:xfrm>
            <a:off x="7543800" y="3355848"/>
            <a:ext cx="4160520" cy="2423160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411480" y="64739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Agent42 | MOEI x 42 Abu Dhabi Hackathon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2920" y="32004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The problem: citizens repeat themselves across every channel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48640" y="9601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MOEI customer engagement currently spans WhatsApp, contact center, website and mobile app, but context is fragmented.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" y="1828800"/>
            <a:ext cx="3246120" cy="1874519"/>
          </a:xfrm>
          <a:prstGeom prst="roundRect">
            <a:avLst/>
          </a:prstGeom>
          <a:solidFill>
            <a:srgbClr val="FFF7EF"/>
          </a:solidFill>
          <a:ln w="12700">
            <a:solidFill>
              <a:srgbClr val="9C8853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04671" y="202996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dirty="0" b="1">
                <a:solidFill>
                  <a:srgbClr val="D8343A"/>
                </a:solidFill>
                <a:latin typeface="Aptos"/>
                <a:ea typeface="Aptos"/>
                <a:cs typeface="Arial"/>
              </a:rPr>
              <a:t>Repeated effort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04671" y="2596896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Customer explains the same issue again on each channel.</a:t>
            </a:r>
          </a:p>
        </p:txBody>
      </p:sp>
      <p:sp>
        <p:nvSpPr>
          <p:cNvPr id="16" name="Shape 16"/>
          <p:cNvSpPr/>
          <p:nvPr/>
        </p:nvSpPr>
        <p:spPr>
          <a:xfrm>
            <a:off x="4389120" y="1828800"/>
            <a:ext cx="3246120" cy="1874519"/>
          </a:xfrm>
          <a:prstGeom prst="roundRect">
            <a:avLst/>
          </a:prstGeom>
          <a:solidFill>
            <a:srgbClr val="FFF7EF"/>
          </a:solidFill>
          <a:ln w="12700">
            <a:solidFill>
              <a:srgbClr val="9C8853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4553712" y="202996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dirty="0" b="1">
                <a:solidFill>
                  <a:srgbClr val="D8343A"/>
                </a:solidFill>
                <a:latin typeface="Aptos"/>
                <a:ea typeface="Aptos"/>
                <a:cs typeface="Arial"/>
              </a:rPr>
              <a:t>Reactive service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553712" y="2596896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Follow-up happens after frustration, not before.</a:t>
            </a:r>
          </a:p>
        </p:txBody>
      </p:sp>
      <p:sp>
        <p:nvSpPr>
          <p:cNvPr id="19" name="Shape 19"/>
          <p:cNvSpPr/>
          <p:nvPr/>
        </p:nvSpPr>
        <p:spPr>
          <a:xfrm>
            <a:off x="8138159" y="1828800"/>
            <a:ext cx="3246120" cy="1874519"/>
          </a:xfrm>
          <a:prstGeom prst="roundRect">
            <a:avLst/>
          </a:prstGeom>
          <a:solidFill>
            <a:srgbClr val="FFF7EF"/>
          </a:solidFill>
          <a:ln w="12700">
            <a:solidFill>
              <a:srgbClr val="9C8853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8302751" y="202996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dirty="0" b="1">
                <a:solidFill>
                  <a:srgbClr val="D8343A"/>
                </a:solidFill>
                <a:latin typeface="Aptos"/>
                <a:ea typeface="Aptos"/>
                <a:cs typeface="Arial"/>
              </a:rPr>
              <a:t>Limited visibility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02751" y="2596896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Leadership cannot see live omnichannel risk in one place.</a:t>
            </a:r>
          </a:p>
        </p:txBody>
      </p:sp>
      <p:sp>
        <p:nvSpPr>
          <p:cNvPr id="22" name="Shape 22"/>
          <p:cNvSpPr/>
          <p:nvPr/>
        </p:nvSpPr>
        <p:spPr>
          <a:xfrm>
            <a:off x="914400" y="4480560"/>
            <a:ext cx="10241280" cy="960120"/>
          </a:xfrm>
          <a:prstGeom prst="roundRect">
            <a:avLst/>
          </a:prstGeom>
          <a:solidFill>
            <a:srgbClr val="102334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143000" y="467258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20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Our claim: one persistent AI service layer can cut effort, speed resolution, and give MOEI live operational control.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11480" y="64739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Agent42 | MOEI x 42 Abu Dhabi Hackathon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2920" y="31089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What we built: a working omnichannel agent system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48640" y="93268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Not just a chatbot. A connected service operating layer.</a:t>
            </a:r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2B8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77240" y="179222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Meta WhatsApp Cloud API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77240" y="221284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8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Production webhook, signature check, wa.me QR entry.</a:t>
            </a:r>
          </a:p>
        </p:txBody>
      </p:sp>
      <p:sp>
        <p:nvSpPr>
          <p:cNvPr id="16" name="Shape 16"/>
          <p:cNvSpPr/>
          <p:nvPr/>
        </p:nvSpPr>
        <p:spPr>
          <a:xfrm>
            <a:off x="4416552" y="16459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2B8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4599432" y="179222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Voice + Arabic handling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599432" y="221284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8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Call page detects Arabic and replies in Arabic.</a:t>
            </a:r>
          </a:p>
        </p:txBody>
      </p:sp>
      <p:sp>
        <p:nvSpPr>
          <p:cNvPr id="19" name="Shape 19"/>
          <p:cNvSpPr/>
          <p:nvPr/>
        </p:nvSpPr>
        <p:spPr>
          <a:xfrm>
            <a:off x="8238744" y="16459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2B8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8421624" y="179222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Web, mobile, sign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421624" y="221284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8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Shared memory/history across citizen channels.</a:t>
            </a:r>
          </a:p>
        </p:txBody>
      </p:sp>
      <p:sp>
        <p:nvSpPr>
          <p:cNvPr id="22" name="Shape 22"/>
          <p:cNvSpPr/>
          <p:nvPr/>
        </p:nvSpPr>
        <p:spPr>
          <a:xfrm>
            <a:off x="594360" y="3520439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2B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77240" y="366674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Task automation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77240" y="408736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8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LLM planner routes service requests and opens workflows.</a:t>
            </a:r>
          </a:p>
        </p:txBody>
      </p:sp>
      <p:sp>
        <p:nvSpPr>
          <p:cNvPr id="25" name="Shape 25"/>
          <p:cNvSpPr/>
          <p:nvPr/>
        </p:nvSpPr>
        <p:spPr>
          <a:xfrm>
            <a:off x="4416552" y="3520439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2B8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4599432" y="366674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UAE PASS profiles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599432" y="408736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8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Demo identities, account page, linked case history.</a:t>
            </a:r>
          </a:p>
        </p:txBody>
      </p:sp>
      <p:sp>
        <p:nvSpPr>
          <p:cNvPr id="28" name="Shape 28"/>
          <p:cNvSpPr/>
          <p:nvPr/>
        </p:nvSpPr>
        <p:spPr>
          <a:xfrm>
            <a:off x="8238744" y="3520439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2B8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8421624" y="366674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Document intelligence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421624" y="408736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8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Salary certificate / Emirates ID detection and storage.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11480" y="64739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Agent42 | MOEI x 42 Abu Dhabi Hackathon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2920" y="3200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Architecture: one brain, specialist agents, live audit</a:t>
            </a:r>
          </a:p>
        </p:txBody>
      </p:sp>
      <p:sp>
        <p:nvSpPr>
          <p:cNvPr id="12" name="Shape 12"/>
          <p:cNvSpPr/>
          <p:nvPr/>
        </p:nvSpPr>
        <p:spPr>
          <a:xfrm>
            <a:off x="502920" y="1097280"/>
            <a:ext cx="1920240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48640" y="12070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5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WhatsApp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463040" y="1691640"/>
            <a:ext cx="4617720" cy="795528"/>
          </a:xfrm>
          <a:prstGeom prst="line">
            <a:avLst/>
          </a:prstGeom>
          <a:ln w="16510">
            <a:solidFill>
              <a:srgbClr val="007A53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2834639" y="1097280"/>
            <a:ext cx="1920240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2880359" y="12070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5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Voice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3794759" y="1691640"/>
            <a:ext cx="2286000" cy="795528"/>
          </a:xfrm>
          <a:prstGeom prst="line">
            <a:avLst/>
          </a:prstGeom>
          <a:ln w="16510">
            <a:solidFill>
              <a:srgbClr val="007A53"/>
            </a:solidFill>
          </a:ln>
        </p:spPr>
      </p:cxnSp>
      <p:sp>
        <p:nvSpPr>
          <p:cNvPr id="18" name="Shape 18"/>
          <p:cNvSpPr/>
          <p:nvPr/>
        </p:nvSpPr>
        <p:spPr>
          <a:xfrm>
            <a:off x="5166359" y="1097280"/>
            <a:ext cx="1920240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212079" y="12070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5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Web Chat</a:t>
            </a:r>
          </a:p>
        </p:txBody>
      </p:sp>
      <p:cxnSp>
        <p:nvCxnSpPr>
          <p:cNvPr id="20" name="Line 20"/>
          <p:cNvCxnSpPr/>
          <p:nvPr/>
        </p:nvCxnSpPr>
        <p:spPr>
          <a:xfrm>
            <a:off x="6126479" y="1691640"/>
            <a:ext cx="-45719" cy="795528"/>
          </a:xfrm>
          <a:prstGeom prst="line">
            <a:avLst/>
          </a:prstGeom>
          <a:ln w="16510">
            <a:solidFill>
              <a:srgbClr val="007A53"/>
            </a:solidFill>
          </a:ln>
        </p:spPr>
      </p:cxnSp>
      <p:sp>
        <p:nvSpPr>
          <p:cNvPr id="21" name="Shape 21"/>
          <p:cNvSpPr/>
          <p:nvPr/>
        </p:nvSpPr>
        <p:spPr>
          <a:xfrm>
            <a:off x="7498079" y="1097280"/>
            <a:ext cx="1920240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7543800" y="12070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5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Mobile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8458200" y="1691640"/>
            <a:ext cx="-2377439" cy="795528"/>
          </a:xfrm>
          <a:prstGeom prst="line">
            <a:avLst/>
          </a:prstGeom>
          <a:ln w="16510">
            <a:solidFill>
              <a:srgbClr val="007A53"/>
            </a:solidFill>
          </a:ln>
        </p:spPr>
      </p:cxnSp>
      <p:sp>
        <p:nvSpPr>
          <p:cNvPr id="24" name="Shape 24"/>
          <p:cNvSpPr/>
          <p:nvPr/>
        </p:nvSpPr>
        <p:spPr>
          <a:xfrm>
            <a:off x="9829800" y="1097280"/>
            <a:ext cx="1920240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875520" y="12070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5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Sign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10789920" y="1691640"/>
            <a:ext cx="-4709160" cy="795528"/>
          </a:xfrm>
          <a:prstGeom prst="line">
            <a:avLst/>
          </a:prstGeom>
          <a:ln w="16510">
            <a:solidFill>
              <a:srgbClr val="007A53"/>
            </a:solidFill>
          </a:ln>
        </p:spPr>
      </p:cxnSp>
      <p:sp>
        <p:nvSpPr>
          <p:cNvPr id="27" name="Shape 27"/>
          <p:cNvSpPr/>
          <p:nvPr/>
        </p:nvSpPr>
        <p:spPr>
          <a:xfrm>
            <a:off x="2880360" y="2487168"/>
            <a:ext cx="6400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A664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3063240" y="2679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8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FastAPI Channel Gateway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6080760" y="3273552"/>
            <a:ext cx="0" cy="429767"/>
          </a:xfrm>
          <a:prstGeom prst="line">
            <a:avLst/>
          </a:prstGeom>
          <a:ln w="25400">
            <a:solidFill>
              <a:srgbClr val="007A53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1965960" y="3703320"/>
            <a:ext cx="8229600" cy="868680"/>
          </a:xfrm>
          <a:prstGeom prst="roundRect">
            <a:avLst/>
          </a:prstGeom>
          <a:solidFill>
            <a:srgbClr val="D8343A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2121408" y="3913632"/>
            <a:ext cx="79095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LangGraph Supervisor: route → remember → guardrail → execute → escalate → reply</a:t>
            </a:r>
          </a:p>
        </p:txBody>
      </p:sp>
      <p:cxnSp>
        <p:nvCxnSpPr>
          <p:cNvPr id="32" name="Line 32"/>
          <p:cNvCxnSpPr/>
          <p:nvPr/>
        </p:nvCxnSpPr>
        <p:spPr>
          <a:xfrm>
            <a:off x="6080760" y="4572000"/>
            <a:ext cx="-4480560" cy="475487"/>
          </a:xfrm>
          <a:prstGeom prst="line">
            <a:avLst/>
          </a:prstGeom>
          <a:ln w="15240">
            <a:solidFill>
              <a:srgbClr val="007A53"/>
            </a:solidFill>
          </a:ln>
        </p:spPr>
      </p:cxnSp>
      <p:sp>
        <p:nvSpPr>
          <p:cNvPr id="33" name="Shape 33"/>
          <p:cNvSpPr/>
          <p:nvPr/>
        </p:nvSpPr>
        <p:spPr>
          <a:xfrm>
            <a:off x="685800" y="5047488"/>
            <a:ext cx="1828800" cy="731520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758952" y="523036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2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Housing Rules</a:t>
            </a:r>
          </a:p>
        </p:txBody>
      </p:sp>
      <p:cxnSp>
        <p:nvCxnSpPr>
          <p:cNvPr id="35" name="Line 35"/>
          <p:cNvCxnSpPr/>
          <p:nvPr/>
        </p:nvCxnSpPr>
        <p:spPr>
          <a:xfrm>
            <a:off x="6080760" y="4572000"/>
            <a:ext cx="-2176272" cy="475487"/>
          </a:xfrm>
          <a:prstGeom prst="line">
            <a:avLst/>
          </a:prstGeom>
          <a:ln w="15240">
            <a:solidFill>
              <a:srgbClr val="007A53"/>
            </a:solidFill>
          </a:ln>
        </p:spPr>
      </p:cxnSp>
      <p:sp>
        <p:nvSpPr>
          <p:cNvPr id="36" name="Shape 36"/>
          <p:cNvSpPr/>
          <p:nvPr/>
        </p:nvSpPr>
        <p:spPr>
          <a:xfrm>
            <a:off x="2990088" y="5047488"/>
            <a:ext cx="1828800" cy="731520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3063240" y="523036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2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CRM Cases</a:t>
            </a:r>
          </a:p>
        </p:txBody>
      </p:sp>
      <p:cxnSp>
        <p:nvCxnSpPr>
          <p:cNvPr id="38" name="Line 38"/>
          <p:cNvCxnSpPr/>
          <p:nvPr/>
        </p:nvCxnSpPr>
        <p:spPr>
          <a:xfrm>
            <a:off x="6080760" y="4572000"/>
            <a:ext cx="128015" cy="475487"/>
          </a:xfrm>
          <a:prstGeom prst="line">
            <a:avLst/>
          </a:prstGeom>
          <a:ln w="15240">
            <a:solidFill>
              <a:srgbClr val="007A53"/>
            </a:solidFill>
          </a:ln>
        </p:spPr>
      </p:cxnSp>
      <p:sp>
        <p:nvSpPr>
          <p:cNvPr id="39" name="Shape 39"/>
          <p:cNvSpPr/>
          <p:nvPr/>
        </p:nvSpPr>
        <p:spPr>
          <a:xfrm>
            <a:off x="5294376" y="5047488"/>
            <a:ext cx="1828800" cy="731520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5367528" y="523036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2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Knowledge/RAG</a:t>
            </a:r>
          </a:p>
        </p:txBody>
      </p:sp>
      <p:cxnSp>
        <p:nvCxnSpPr>
          <p:cNvPr id="41" name="Line 41"/>
          <p:cNvCxnSpPr/>
          <p:nvPr/>
        </p:nvCxnSpPr>
        <p:spPr>
          <a:xfrm>
            <a:off x="6080760" y="4572000"/>
            <a:ext cx="2432304" cy="475487"/>
          </a:xfrm>
          <a:prstGeom prst="line">
            <a:avLst/>
          </a:prstGeom>
          <a:ln w="15240">
            <a:solidFill>
              <a:srgbClr val="007A53"/>
            </a:solidFill>
          </a:ln>
        </p:spPr>
      </p:cxnSp>
      <p:sp>
        <p:nvSpPr>
          <p:cNvPr id="42" name="Shape 42"/>
          <p:cNvSpPr/>
          <p:nvPr/>
        </p:nvSpPr>
        <p:spPr>
          <a:xfrm>
            <a:off x="7598664" y="5047488"/>
            <a:ext cx="1828800" cy="731520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7671816" y="523036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2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Notifications</a:t>
            </a:r>
          </a:p>
        </p:txBody>
      </p:sp>
      <p:cxnSp>
        <p:nvCxnSpPr>
          <p:cNvPr id="44" name="Line 44"/>
          <p:cNvCxnSpPr/>
          <p:nvPr/>
        </p:nvCxnSpPr>
        <p:spPr>
          <a:xfrm>
            <a:off x="6080760" y="4572000"/>
            <a:ext cx="4736592" cy="475487"/>
          </a:xfrm>
          <a:prstGeom prst="line">
            <a:avLst/>
          </a:prstGeom>
          <a:ln w="15240">
            <a:solidFill>
              <a:srgbClr val="007A53"/>
            </a:solidFill>
          </a:ln>
        </p:spPr>
      </p:cxnSp>
      <p:sp>
        <p:nvSpPr>
          <p:cNvPr id="45" name="Shape 45"/>
          <p:cNvSpPr/>
          <p:nvPr/>
        </p:nvSpPr>
        <p:spPr>
          <a:xfrm>
            <a:off x="9902952" y="5047488"/>
            <a:ext cx="1828800" cy="731520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9976104" y="523036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2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Audit Trail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822960" y="59893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dirty="0">
                <a:solidFill>
                  <a:srgbClr val="C7D6DD"/>
                </a:solidFill>
                <a:latin typeface="Aptos"/>
                <a:ea typeface="Aptos"/>
                <a:cs typeface="Arial"/>
              </a:rPr>
              <a:t>Postgres system of record • Redis memory • Langfuse traces • Web-host deployment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411480" y="64739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Agent42 | MOEI x 42 Abu Dhabi Hackathon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2920" y="32004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Live demo path in 5 minutes</a:t>
            </a:r>
          </a:p>
        </p:txBody>
      </p:sp>
      <p:sp>
        <p:nvSpPr>
          <p:cNvPr id="12" name="Shape 12"/>
          <p:cNvSpPr/>
          <p:nvPr/>
        </p:nvSpPr>
        <p:spPr>
          <a:xfrm>
            <a:off x="731520" y="1170432"/>
            <a:ext cx="566928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786384" y="128016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508760" y="11887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Ask in WhatsApp / chat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508760" y="149961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Arabic or English question; shared memory starts.</a:t>
            </a:r>
          </a:p>
        </p:txBody>
      </p:sp>
      <p:sp>
        <p:nvSpPr>
          <p:cNvPr id="16" name="Shape 16"/>
          <p:cNvSpPr/>
          <p:nvPr/>
        </p:nvSpPr>
        <p:spPr>
          <a:xfrm>
            <a:off x="731520" y="2130552"/>
            <a:ext cx="566928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86384" y="224028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2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508760" y="21488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Automate a task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508760" y="245973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Voice or chat request opens the right service workflow.</a:t>
            </a:r>
          </a:p>
        </p:txBody>
      </p:sp>
      <p:sp>
        <p:nvSpPr>
          <p:cNvPr id="20" name="Shape 20"/>
          <p:cNvSpPr/>
          <p:nvPr/>
        </p:nvSpPr>
        <p:spPr>
          <a:xfrm>
            <a:off x="731520" y="3090672"/>
            <a:ext cx="566928" cy="566928"/>
          </a:xfrm>
          <a:prstGeom prst="roundRect">
            <a:avLst/>
          </a:prstGeom>
          <a:solidFill>
            <a:srgbClr val="D8343A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786384" y="320040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3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508760" y="3108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Reschedule SZHP arrears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508760" y="341985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Rules engine calculates safe housing plan.</a:t>
            </a:r>
          </a:p>
        </p:txBody>
      </p:sp>
      <p:sp>
        <p:nvSpPr>
          <p:cNvPr id="24" name="Shape 24"/>
          <p:cNvSpPr/>
          <p:nvPr/>
        </p:nvSpPr>
        <p:spPr>
          <a:xfrm>
            <a:off x="731520" y="4050792"/>
            <a:ext cx="566928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786384" y="416052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4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508760" y="40690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Upload documents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508760" y="437997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Salary certificate and Emirates ID classified and saved.</a:t>
            </a:r>
          </a:p>
        </p:txBody>
      </p:sp>
      <p:sp>
        <p:nvSpPr>
          <p:cNvPr id="28" name="Shape 28"/>
          <p:cNvSpPr/>
          <p:nvPr/>
        </p:nvSpPr>
        <p:spPr>
          <a:xfrm>
            <a:off x="731520" y="5010912"/>
            <a:ext cx="566928" cy="566928"/>
          </a:xfrm>
          <a:prstGeom prst="roundRect">
            <a:avLst/>
          </a:prstGeom>
          <a:solidFill>
            <a:srgbClr val="9C8853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786384" y="512064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5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508760" y="5029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Admin sees reality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508760" y="5340096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Executive dashboard, co-pilot, audit trail update live.</a:t>
            </a:r>
          </a:p>
        </p:txBody>
      </p:sp>
      <p:pic>
        <p:nvPicPr>
          <p:cNvPr id="32" name="Housing handover"/>
          <p:cNvPicPr/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480560" cy="2468880"/>
          </a:xfrm>
          <a:prstGeom prst="rect">
            <a:avLst/>
          </a:prstGeom>
        </p:spPr>
      </p:pic>
      <p:sp>
        <p:nvSpPr>
          <p:cNvPr id="33" name="Shape 33"/>
          <p:cNvSpPr/>
          <p:nvPr/>
        </p:nvSpPr>
        <p:spPr>
          <a:xfrm>
            <a:off x="6949440" y="3886200"/>
            <a:ext cx="4480560" cy="132588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007A53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178040" y="404164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Demo URLs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178040" y="437083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localhost:3000/chat</a:t>
            </a:r>
          </a:p>
          <a:p>
            <a:pPr algn="l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localhost:3000/automation</a:t>
            </a:r>
          </a:p>
          <a:p>
            <a:pPr algn="l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localhost:3000/admin/exec</a:t>
            </a:r>
          </a:p>
          <a:p>
            <a:pPr algn="l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localhost:3000/admin/audit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411480" y="64739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Agent42 | MOEI x 42 Abu Dhabi Hackathon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2920" y="3200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dirty="0" b="1">
                <a:solidFill>
                  <a:srgbClr val="102334"/>
                </a:solidFill>
                <a:latin typeface="Aptos"/>
                <a:ea typeface="Aptos"/>
                <a:cs typeface="Arial"/>
              </a:rPr>
              <a:t>Why it matters: measurable federal impact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" y="1234440"/>
            <a:ext cx="23957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9A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31519" y="1417320"/>
            <a:ext cx="2212848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3000" dirty="0" b="1">
                <a:solidFill>
                  <a:srgbClr val="D8343A"/>
                </a:solidFill>
                <a:latin typeface="Aptos"/>
                <a:ea typeface="Aptos"/>
                <a:cs typeface="Arial"/>
              </a:rPr>
              <a:t>90 sec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22959" y="1984248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end-to-end guided service flow</a:t>
            </a:r>
          </a:p>
        </p:txBody>
      </p:sp>
      <p:sp>
        <p:nvSpPr>
          <p:cNvPr id="15" name="Shape 15"/>
          <p:cNvSpPr/>
          <p:nvPr/>
        </p:nvSpPr>
        <p:spPr>
          <a:xfrm>
            <a:off x="3474720" y="1234440"/>
            <a:ext cx="23957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9AA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3566160" y="1417320"/>
            <a:ext cx="2212848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30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24/7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657600" y="1984248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Arabic + English support</a:t>
            </a:r>
          </a:p>
        </p:txBody>
      </p:sp>
      <p:sp>
        <p:nvSpPr>
          <p:cNvPr id="18" name="Shape 18"/>
          <p:cNvSpPr/>
          <p:nvPr/>
        </p:nvSpPr>
        <p:spPr>
          <a:xfrm>
            <a:off x="6309360" y="1234440"/>
            <a:ext cx="23957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9AA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6400800" y="1417320"/>
            <a:ext cx="2212848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30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1 profile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92240" y="1984248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citizen context across channels</a:t>
            </a:r>
          </a:p>
        </p:txBody>
      </p:sp>
      <p:sp>
        <p:nvSpPr>
          <p:cNvPr id="21" name="Shape 21"/>
          <p:cNvSpPr/>
          <p:nvPr/>
        </p:nvSpPr>
        <p:spPr>
          <a:xfrm>
            <a:off x="9144000" y="1234440"/>
            <a:ext cx="23957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9AA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9235440" y="1417320"/>
            <a:ext cx="2212848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3000" dirty="0" b="1">
                <a:solidFill>
                  <a:srgbClr val="007A53"/>
                </a:solidFill>
                <a:latin typeface="Aptos"/>
                <a:ea typeface="Aptos"/>
                <a:cs typeface="Arial"/>
              </a:rPr>
              <a:t>0 repeat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326880" y="1984248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same issue does not restart</a:t>
            </a:r>
          </a:p>
        </p:txBody>
      </p:sp>
      <p:sp>
        <p:nvSpPr>
          <p:cNvPr id="24" name="Shape 24"/>
          <p:cNvSpPr/>
          <p:nvPr/>
        </p:nvSpPr>
        <p:spPr>
          <a:xfrm>
            <a:off x="731520" y="333756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8853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960120" y="35204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dirty="0" b="1">
                <a:solidFill>
                  <a:srgbClr val="9C8853"/>
                </a:solidFill>
                <a:latin typeface="Aptos"/>
                <a:ea typeface="Aptos"/>
                <a:cs typeface="Arial"/>
              </a:rPr>
              <a:t>For citizens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60120" y="391363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Less effort, faster answers, accessible service, proactive updates.</a:t>
            </a:r>
          </a:p>
        </p:txBody>
      </p:sp>
      <p:sp>
        <p:nvSpPr>
          <p:cNvPr id="27" name="Shape 27"/>
          <p:cNvSpPr/>
          <p:nvPr/>
        </p:nvSpPr>
        <p:spPr>
          <a:xfrm>
            <a:off x="6355080" y="333756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8853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583680" y="35204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dirty="0" b="1">
                <a:solidFill>
                  <a:srgbClr val="9C8853"/>
                </a:solidFill>
                <a:latin typeface="Aptos"/>
                <a:ea typeface="Aptos"/>
                <a:cs typeface="Arial"/>
              </a:rPr>
              <a:t>For MOEI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583680" y="391363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102334"/>
                </a:solidFill>
                <a:latin typeface="Aptos"/>
                <a:ea typeface="Aptos"/>
                <a:cs typeface="Arial"/>
              </a:rPr>
              <a:t>Live KPIs, SLA risk, agent co-pilot, auditable AI decisions.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Built for web-host deployment: no Docker required at runtime; managed Postgres/Redis supported.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11480" y="64739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Agent42 | MOEI x 42 Abu Dhabi Hackathon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2920" y="41148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Agent42 is submission-ready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48640" y="107899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 b="1">
                <a:solidFill>
                  <a:srgbClr val="C6A664"/>
                </a:solidFill>
                <a:latin typeface="Aptos"/>
                <a:ea typeface="Aptos"/>
                <a:cs typeface="Arial"/>
              </a:rPr>
              <a:t>Omnichannel AI Customer Engagement Agent</a:t>
            </a:r>
          </a:p>
        </p:txBody>
      </p:sp>
      <p:pic>
        <p:nvPicPr>
          <p:cNvPr id="13" name="EV fu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7452360" y="594360"/>
            <a:ext cx="4023360" cy="228600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731520" y="1883664"/>
            <a:ext cx="237744" cy="237744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60704" y="1810512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Aptos"/>
                <a:ea typeface="Aptos"/>
                <a:cs typeface="Arial"/>
              </a:rPr>
              <a:t>Working web, mobile, voice, sign and WhatsApp surfaces</a:t>
            </a:r>
          </a:p>
        </p:txBody>
      </p:sp>
      <p:sp>
        <p:nvSpPr>
          <p:cNvPr id="16" name="Shape 16"/>
          <p:cNvSpPr/>
          <p:nvPr/>
        </p:nvSpPr>
        <p:spPr>
          <a:xfrm>
            <a:off x="731520" y="2450592"/>
            <a:ext cx="237744" cy="237744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60704" y="2377440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Aptos"/>
                <a:ea typeface="Aptos"/>
                <a:cs typeface="Arial"/>
              </a:rPr>
              <a:t>Housing arrears rescheduling workflow with SZHP rules</a:t>
            </a:r>
          </a:p>
        </p:txBody>
      </p:sp>
      <p:sp>
        <p:nvSpPr>
          <p:cNvPr id="18" name="Shape 18"/>
          <p:cNvSpPr/>
          <p:nvPr/>
        </p:nvSpPr>
        <p:spPr>
          <a:xfrm>
            <a:off x="731520" y="3017520"/>
            <a:ext cx="237744" cy="237744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060704" y="2944368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Aptos"/>
                <a:ea typeface="Aptos"/>
                <a:cs typeface="Arial"/>
              </a:rPr>
              <a:t>Task automation agent for customer service requests</a:t>
            </a:r>
          </a:p>
        </p:txBody>
      </p:sp>
      <p:sp>
        <p:nvSpPr>
          <p:cNvPr id="20" name="Shape 20"/>
          <p:cNvSpPr/>
          <p:nvPr/>
        </p:nvSpPr>
        <p:spPr>
          <a:xfrm>
            <a:off x="731520" y="3584448"/>
            <a:ext cx="237744" cy="237744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060704" y="3511296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Aptos"/>
                <a:ea typeface="Aptos"/>
                <a:cs typeface="Arial"/>
              </a:rPr>
              <a:t>Live executive dashboard, co-pilot, cases and audit trail</a:t>
            </a:r>
          </a:p>
        </p:txBody>
      </p:sp>
      <p:sp>
        <p:nvSpPr>
          <p:cNvPr id="22" name="Shape 22"/>
          <p:cNvSpPr/>
          <p:nvPr/>
        </p:nvSpPr>
        <p:spPr>
          <a:xfrm>
            <a:off x="731520" y="4151376"/>
            <a:ext cx="237744" cy="237744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060704" y="4078224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Aptos"/>
                <a:ea typeface="Aptos"/>
                <a:cs typeface="Arial"/>
              </a:rPr>
              <a:t>Secure UAE PASS demo identities and document storage</a:t>
            </a:r>
          </a:p>
        </p:txBody>
      </p:sp>
      <p:sp>
        <p:nvSpPr>
          <p:cNvPr id="24" name="Shape 24"/>
          <p:cNvSpPr/>
          <p:nvPr/>
        </p:nvSpPr>
        <p:spPr>
          <a:xfrm>
            <a:off x="731520" y="4718303"/>
            <a:ext cx="237744" cy="237744"/>
          </a:xfrm>
          <a:prstGeom prst="roundRect">
            <a:avLst/>
          </a:prstGeom>
          <a:solidFill>
            <a:srgbClr val="007A5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1060704" y="4645152"/>
            <a:ext cx="5760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Aptos"/>
                <a:ea typeface="Aptos"/>
                <a:cs typeface="Arial"/>
              </a:rPr>
              <a:t>GitHub main branch cleaned and pushed</a:t>
            </a:r>
          </a:p>
        </p:txBody>
      </p:sp>
      <p:sp>
        <p:nvSpPr>
          <p:cNvPr id="26" name="Shape 26"/>
          <p:cNvSpPr/>
          <p:nvPr/>
        </p:nvSpPr>
        <p:spPr>
          <a:xfrm>
            <a:off x="7178040" y="3310128"/>
            <a:ext cx="4389120" cy="1143000"/>
          </a:xfrm>
          <a:prstGeom prst="roundRect">
            <a:avLst/>
          </a:prstGeom>
          <a:solidFill>
            <a:srgbClr val="12364A"/>
          </a:solidFill>
          <a:ln w="12700">
            <a:solidFill>
              <a:srgbClr val="C6A664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7406640" y="34930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dirty="0" b="1">
                <a:solidFill>
                  <a:srgbClr val="C6A664"/>
                </a:solidFill>
                <a:latin typeface="Aptos"/>
                <a:ea typeface="Aptos"/>
                <a:cs typeface="Arial"/>
              </a:rPr>
              <a:t>Ask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406640" y="3803904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 b="1">
                <a:solidFill>
                  <a:srgbClr val="FFFFFF"/>
                </a:solidFill>
                <a:latin typeface="Aptos"/>
                <a:ea typeface="Aptos"/>
                <a:cs typeface="Arial"/>
              </a:rPr>
              <a:t>Select Agent42 for the Omnichannel AI Customer Engagement Agent track.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48640" y="57150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600" dirty="0" b="1">
                <a:solidFill>
                  <a:srgbClr val="C6A664"/>
                </a:solidFill>
                <a:latin typeface="Aptos"/>
                <a:ea typeface="Aptos"/>
                <a:cs typeface="Arial"/>
              </a:rPr>
              <a:t>Thank you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11480" y="64739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Agent42 | MOEI x 42 Abu Dhabi Hackathon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E6A73"/>
                </a:solidFill>
                <a:latin typeface="Aptos"/>
                <a:ea typeface="Aptos"/>
                <a:cs typeface="Arial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42">
  <a:themeElements>
    <a:clrScheme name="Agent42">
      <a:dk1>
        <a:srgbClr val="102334"/>
      </a:dk1>
      <a:lt1>
        <a:srgbClr val="FFFFFF"/>
      </a:lt1>
      <a:dk2>
        <a:srgbClr val="071923"/>
      </a:dk2>
      <a:lt2>
        <a:srgbClr val="F7F1E6"/>
      </a:lt2>
      <a:accent1>
        <a:srgbClr val="9C8853"/>
      </a:accent1>
      <a:accent2>
        <a:srgbClr val="007A53"/>
      </a:accent2>
      <a:accent3>
        <a:srgbClr val="D8343A"/>
      </a:accent3>
      <a:accent4>
        <a:srgbClr val="DCECF5"/>
      </a:accent4>
      <a:accent5>
        <a:srgbClr val="C6A664"/>
      </a:accent5>
      <a:accent6>
        <a:srgbClr val="5E6A73"/>
      </a:accent6>
      <a:hlink>
        <a:srgbClr val="0563C1"/>
      </a:hlink>
      <a:folHlink>
        <a:srgbClr val="954F72"/>
      </a:folHlink>
    </a:clrScheme>
    <a:fontScheme name="Agent42">
      <a:majorFont>
        <a:latin typeface="Aptos Display"/>
      </a:majorFont>
      <a:minorFont>
        <a:latin typeface="Aptos"/>
      </a:minorFont>
    </a:fontScheme>
    <a:fmtScheme name="Agent42">
      <a:fillStyleLst/>
      <a:lnStyleLst/>
      <a:effectStyleLst/>
      <a:bgFillStyleLst/>
    </a:fmtScheme>
  </a:themeElements>
</a:theme>
</file>